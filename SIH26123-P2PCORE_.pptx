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8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F4CF6C6-E2B4-4FC6-8E07-5F53C253843B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181510-6383-4D3F-92C5-F65C6CC163A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3175CD-A2B1-4663-9CD3-E6E260BFACB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9943BCD-3228-4E25-B319-83EE273B4C4E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1144FE-E45F-465B-9426-3324360C1C89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4D97FF-CDB8-488F-B9BA-BCB3412BC177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3063E5E-01DD-4C65-AD01-C12480519D39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96EB24F-6180-4C05-9C36-5A7DDF3B084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EE5148B-F1BF-4747-B961-5D0A90C3AFA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659C21-B356-4D52-B250-FCF851549BE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5B555D9-B878-4A9B-8C33-41851E7872E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3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01D9646A-829D-4AF0-8467-318E9504C3B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8041D6C9-D2D7-41C5-B6B0-6D93DCDC732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40475B9D-6F79-4656-8D80-B5394903C83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B894A35B-2BE9-484E-90EF-F53FAC918D9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567BCF2-C72F-4536-B5E5-858732F2B49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EDEBF575-03BB-4964-AC2C-3670902DEA2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F8FA5A-85D3-4172-AAEE-554843C1FD6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8B095C-DEC2-45A1-8CCD-6BD1BFEB208E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609477-FA71-4B49-9744-5FF3E426CF6B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6520B7-1FC9-414B-A94E-58BB73B92AE3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F3A450-49A7-4A5E-B7C7-D8A50BB010F3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C1A101-F3B9-44A8-A0B7-6B4F7299156F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16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16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18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16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16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4F4CC8-A5D7-4B82-A5E9-6AFFDACE9D0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2E0226-0880-4147-AB40-44803E0ADF3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E6B336-A6C0-4241-9706-D5925C749D1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Trade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Trade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Trade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14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CC72FE-5F05-4C3D-B32C-341791B7EBBF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905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TradeGothic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TradeGothic"/>
                <a:ea typeface="ＭＳ Ｐゴシック"/>
              </a:rPr>
              <a:t>Click to edit Master text styles</a:t>
            </a:r>
            <a:endParaRPr lang="en-US" sz="1400" b="0" strike="noStrike" spc="-1">
              <a:solidFill>
                <a:schemeClr val="dk1"/>
              </a:solidFill>
              <a:latin typeface="TradeGothic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077895-3E99-4AE9-A35C-00A2C498FDFC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73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pic>
        <p:nvPicPr>
          <p:cNvPr id="74" name="Picture 4"/>
          <p:cNvPicPr/>
          <p:nvPr/>
        </p:nvPicPr>
        <p:blipFill>
          <a:blip r:embed="rId2"/>
          <a:srcRect r="59916"/>
          <a:stretch/>
        </p:blipFill>
        <p:spPr>
          <a:xfrm>
            <a:off x="6854760" y="1715760"/>
            <a:ext cx="3203280" cy="342576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chemeClr val="dk2"/>
                </a:solidFill>
                <a:latin typeface="Garamond"/>
                <a:ea typeface="ＭＳ Ｐゴシック"/>
              </a:rPr>
              <a:t>SMART INDIA HACKATHON 2026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357840" y="1667520"/>
            <a:ext cx="5924160" cy="47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Problem Statement ID – SIH26123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Problem Statement Title- </a:t>
            </a:r>
            <a:r>
              <a:rPr lang="en-GB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Edge-AI Based Distributed Fleet Coordination for Autonomous Mobile Robots (AMRs) in Smart Warehouses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Theme- Smart Automation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PS Category- Software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Team ID- 147189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  <a:ea typeface="ＭＳ Ｐゴシック"/>
              </a:rPr>
              <a:t>Team Name- CLUSTER HEAD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1"/>
          <p:cNvPicPr/>
          <p:nvPr/>
        </p:nvPicPr>
        <p:blipFill>
          <a:blip r:embed="rId3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8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728E31-C693-48AC-BAFA-8F296ED63B3E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2</a:t>
            </a:fld>
            <a:endParaRPr lang="en-US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162000" y="6840"/>
            <a:ext cx="1617480" cy="8110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50" b="0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CLUSTER HEAD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12"/>
          <p:cNvPicPr/>
          <p:nvPr/>
        </p:nvPicPr>
        <p:blipFill>
          <a:blip r:embed="rId3"/>
          <a:stretch/>
        </p:blipFill>
        <p:spPr>
          <a:xfrm>
            <a:off x="9780120" y="86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82" name="TextBox 13"/>
          <p:cNvSpPr/>
          <p:nvPr/>
        </p:nvSpPr>
        <p:spPr>
          <a:xfrm>
            <a:off x="74160" y="960120"/>
            <a:ext cx="2089800" cy="32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strike="noStrike" spc="-1">
                <a:solidFill>
                  <a:srgbClr val="D84315"/>
                </a:solidFill>
                <a:latin typeface="Times New Roman"/>
                <a:ea typeface="ＭＳ Ｐゴシック"/>
              </a:rPr>
              <a:t>Problem at Hand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14" descr="image.png"/>
          <p:cNvPicPr/>
          <p:nvPr/>
        </p:nvPicPr>
        <p:blipFill>
          <a:blip r:embed="rId4"/>
          <a:stretch/>
        </p:blipFill>
        <p:spPr>
          <a:xfrm>
            <a:off x="41760" y="1359000"/>
            <a:ext cx="2848680" cy="70164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15" descr="image.png"/>
          <p:cNvPicPr/>
          <p:nvPr/>
        </p:nvPicPr>
        <p:blipFill>
          <a:blip r:embed="rId5"/>
          <a:stretch/>
        </p:blipFill>
        <p:spPr>
          <a:xfrm>
            <a:off x="41760" y="2111040"/>
            <a:ext cx="2848680" cy="82800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6" descr="image.png"/>
          <p:cNvPicPr/>
          <p:nvPr/>
        </p:nvPicPr>
        <p:blipFill>
          <a:blip r:embed="rId6"/>
          <a:stretch/>
        </p:blipFill>
        <p:spPr>
          <a:xfrm>
            <a:off x="41760" y="2991240"/>
            <a:ext cx="2848680" cy="90612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17" descr="image.png"/>
          <p:cNvPicPr/>
          <p:nvPr/>
        </p:nvPicPr>
        <p:blipFill>
          <a:blip r:embed="rId7"/>
          <a:stretch/>
        </p:blipFill>
        <p:spPr>
          <a:xfrm>
            <a:off x="41400" y="3946680"/>
            <a:ext cx="2848680" cy="936360"/>
          </a:xfrm>
          <a:prstGeom prst="rect">
            <a:avLst/>
          </a:prstGeom>
          <a:ln w="0">
            <a:noFill/>
          </a:ln>
        </p:spPr>
      </p:pic>
      <p:sp>
        <p:nvSpPr>
          <p:cNvPr id="87" name="TextBox 18"/>
          <p:cNvSpPr/>
          <p:nvPr/>
        </p:nvSpPr>
        <p:spPr>
          <a:xfrm>
            <a:off x="35640" y="1379880"/>
            <a:ext cx="284868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GB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Centralized Dependency:</a:t>
            </a:r>
            <a:r>
              <a:rPr lang="en-GB" sz="1300" b="0" strike="noStrike" spc="-1">
                <a:solidFill>
                  <a:srgbClr val="111111"/>
                </a:solidFill>
                <a:latin typeface="Times New Roman"/>
                <a:ea typeface="ＭＳ Ｐゴシック"/>
              </a:rPr>
              <a:t> Movement coordination can depend on a central controller and communication path.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20880" y="2085480"/>
            <a:ext cx="2848680" cy="88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GB" sz="1300" b="1" strike="noStrike" spc="-1">
                <a:solidFill>
                  <a:srgbClr val="000000"/>
                </a:solidFill>
                <a:latin typeface="Times New Roman"/>
                <a:ea typeface="Roboto"/>
              </a:rPr>
              <a:t>Traffic Conflicts: 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Roboto"/>
              </a:rPr>
              <a:t>Multiple AMRs competing for narrow aisles and junctions can cause blocking and collisions.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6120" y="2960640"/>
            <a:ext cx="2848680" cy="88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GB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Deadlock &amp; Starvation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:</a:t>
            </a:r>
            <a:r>
              <a:rPr lang="en-GB" sz="1300" b="0" strike="noStrike" spc="-1">
                <a:solidFill>
                  <a:srgbClr val="111111"/>
                </a:solidFill>
                <a:latin typeface="Times New Roman"/>
                <a:ea typeface="ＭＳ Ｐゴシック"/>
              </a:rPr>
              <a:t> Fixed-priority rules can repeatedly make the same robot yield, causing prolonged waiting and unfair access to shared lanes.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29880" y="3990960"/>
            <a:ext cx="2848680" cy="88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GB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Dynamic Warehouse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: Blocked aisles or changing routes require robots to adapt their paths instead of following a fixed route.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5083560" y="65160"/>
            <a:ext cx="201744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IN" sz="2800" b="1" strike="noStrike" spc="-1">
                <a:solidFill>
                  <a:srgbClr val="2E7D32"/>
                </a:solidFill>
                <a:latin typeface="Times New Roman"/>
                <a:ea typeface="ＭＳ Ｐゴシック"/>
              </a:rPr>
              <a:t>Our Solution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9119160" y="996840"/>
            <a:ext cx="2848680" cy="32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457200" algn="ctr" defTabSz="457200">
              <a:lnSpc>
                <a:spcPct val="100000"/>
              </a:lnSpc>
            </a:pPr>
            <a:r>
              <a:rPr lang="en-US" sz="2100" b="1" strike="noStrike" spc="-1">
                <a:solidFill>
                  <a:srgbClr val="0277BD"/>
                </a:solidFill>
                <a:latin typeface="Times New Roman"/>
                <a:ea typeface="ＭＳ Ｐゴシック"/>
              </a:rPr>
              <a:t>Why We Stand Out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24" descr="image.png"/>
          <p:cNvPicPr/>
          <p:nvPr/>
        </p:nvPicPr>
        <p:blipFill>
          <a:blip r:embed="rId4"/>
          <a:stretch/>
        </p:blipFill>
        <p:spPr>
          <a:xfrm>
            <a:off x="44640" y="4949640"/>
            <a:ext cx="2848680" cy="1092240"/>
          </a:xfrm>
          <a:prstGeom prst="rect">
            <a:avLst/>
          </a:prstGeom>
          <a:ln w="0">
            <a:noFill/>
          </a:ln>
        </p:spPr>
      </p:pic>
      <p:sp>
        <p:nvSpPr>
          <p:cNvPr id="94" name="TextBox 25"/>
          <p:cNvSpPr/>
          <p:nvPr/>
        </p:nvSpPr>
        <p:spPr>
          <a:xfrm>
            <a:off x="38520" y="4933440"/>
            <a:ext cx="2848680" cy="10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GB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Scalability Challenge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:</a:t>
            </a:r>
            <a:r>
              <a:rPr lang="en-GB" sz="1300" b="0" strike="noStrike" spc="-1">
                <a:solidFill>
                  <a:srgbClr val="111111"/>
                </a:solidFill>
                <a:latin typeface="Times New Roman"/>
                <a:ea typeface="ＭＳ Ｐゴシック"/>
              </a:rPr>
              <a:t> As the number of AMRs increases, coordinating every movement through one controller can increase the coordination burden and communication dependency.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26" descr="image.png"/>
          <p:cNvPicPr/>
          <p:nvPr/>
        </p:nvPicPr>
        <p:blipFill>
          <a:blip r:embed="rId8"/>
          <a:stretch/>
        </p:blipFill>
        <p:spPr>
          <a:xfrm>
            <a:off x="9342720" y="1359000"/>
            <a:ext cx="2806920" cy="106200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27" descr="image.png"/>
          <p:cNvPicPr/>
          <p:nvPr/>
        </p:nvPicPr>
        <p:blipFill>
          <a:blip r:embed="rId6"/>
          <a:stretch/>
        </p:blipFill>
        <p:spPr>
          <a:xfrm>
            <a:off x="9342720" y="2470320"/>
            <a:ext cx="2806920" cy="853920"/>
          </a:xfrm>
          <a:prstGeom prst="rect">
            <a:avLst/>
          </a:prstGeom>
          <a:ln w="0">
            <a:noFill/>
          </a:ln>
        </p:spPr>
      </p:pic>
      <p:sp>
        <p:nvSpPr>
          <p:cNvPr id="97" name="TextBox 28"/>
          <p:cNvSpPr/>
          <p:nvPr/>
        </p:nvSpPr>
        <p:spPr>
          <a:xfrm>
            <a:off x="9321840" y="1346400"/>
            <a:ext cx="2848680" cy="10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IN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Distributed Decisions: 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Each AMR performs its own path planning and conflict decisions. The dashboard only monitors; it does not control robot movement.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29" descr="image.png"/>
          <p:cNvPicPr/>
          <p:nvPr/>
        </p:nvPicPr>
        <p:blipFill>
          <a:blip r:embed="rId5"/>
          <a:stretch/>
        </p:blipFill>
        <p:spPr>
          <a:xfrm>
            <a:off x="9346680" y="3368520"/>
            <a:ext cx="2802960" cy="8215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30" descr="image.png"/>
          <p:cNvPicPr/>
          <p:nvPr/>
        </p:nvPicPr>
        <p:blipFill>
          <a:blip r:embed="rId7"/>
          <a:stretch/>
        </p:blipFill>
        <p:spPr>
          <a:xfrm>
            <a:off x="9327960" y="4247640"/>
            <a:ext cx="2806920" cy="856800"/>
          </a:xfrm>
          <a:prstGeom prst="rect">
            <a:avLst/>
          </a:prstGeom>
          <a:ln w="0">
            <a:noFill/>
          </a:ln>
        </p:spPr>
      </p:pic>
      <p:sp>
        <p:nvSpPr>
          <p:cNvPr id="100" name="TextBox 31"/>
          <p:cNvSpPr/>
          <p:nvPr/>
        </p:nvSpPr>
        <p:spPr>
          <a:xfrm>
            <a:off x="9294840" y="3336480"/>
            <a:ext cx="2848680" cy="88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IN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Fairness-Aware Priority: 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Waiting time increases a robot's priority, reducing repeated starvation during recurring conflicts.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2"/>
          <p:cNvSpPr/>
          <p:nvPr/>
        </p:nvSpPr>
        <p:spPr>
          <a:xfrm>
            <a:off x="9300960" y="2470320"/>
            <a:ext cx="2848680" cy="88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IN" sz="1300" b="1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Pre-emptive Coordination: </a:t>
            </a:r>
            <a:r>
              <a:rPr lang="en-GB" sz="13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Robots negotiate before entering a contested narrow lane, instead of reacting after a conflict occurs 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3"/>
          <p:cNvSpPr/>
          <p:nvPr/>
        </p:nvSpPr>
        <p:spPr>
          <a:xfrm>
            <a:off x="9297360" y="4237920"/>
            <a:ext cx="2848680" cy="8910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IN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Dynamic Re-planning: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aisle or grid cell becomes blocked, the affected robot can re-run A* and find an alternative route.</a:t>
            </a:r>
            <a:endParaRPr lang="en-US" sz="13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34"/>
          <p:cNvSpPr/>
          <p:nvPr/>
        </p:nvSpPr>
        <p:spPr>
          <a:xfrm>
            <a:off x="2917260" y="4984893"/>
            <a:ext cx="6350580" cy="1092240"/>
          </a:xfrm>
          <a:prstGeom prst="rect">
            <a:avLst/>
          </a:prstGeom>
          <a:gradFill rotWithShape="0">
            <a:gsLst>
              <a:gs pos="0">
                <a:srgbClr val="FFD2BC"/>
              </a:gs>
              <a:gs pos="35000">
                <a:srgbClr val="FFDED0"/>
              </a:gs>
              <a:gs pos="100000">
                <a:srgbClr val="FFF1EC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04" name="TextBox 35"/>
          <p:cNvSpPr/>
          <p:nvPr/>
        </p:nvSpPr>
        <p:spPr>
          <a:xfrm>
            <a:off x="5083560" y="4654709"/>
            <a:ext cx="2166840" cy="32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IN" sz="2100" b="1" strike="noStrike" spc="-1" dirty="0">
                <a:solidFill>
                  <a:srgbClr val="2E7D32"/>
                </a:solidFill>
                <a:latin typeface="Times New Roman"/>
                <a:ea typeface="ＭＳ Ｐゴシック"/>
              </a:rPr>
              <a:t>Design Philosophy</a:t>
            </a:r>
            <a:endParaRPr lang="en-US" sz="2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6"/>
          <p:cNvSpPr/>
          <p:nvPr/>
        </p:nvSpPr>
        <p:spPr>
          <a:xfrm>
            <a:off x="2878560" y="4975109"/>
            <a:ext cx="6389280" cy="1291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Local First — </a:t>
            </a:r>
            <a:r>
              <a:rPr lang="en-GB" sz="1300" b="0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Each AMR owns its movement decision.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Predict Before Conflict — </a:t>
            </a:r>
            <a:r>
              <a:rPr lang="en-GB" sz="1300" b="0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Negotiate before entering shared space</a:t>
            </a: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.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Fairness by Waiting — </a:t>
            </a:r>
            <a:r>
              <a:rPr lang="en-GB" sz="1300" b="0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Waiting increases future priority</a:t>
            </a: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.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Deterministic Decisions — </a:t>
            </a:r>
            <a:r>
              <a:rPr lang="en-GB" sz="1300" b="0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Priority score + robot-ID tie-breaker.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00" b="1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Monitor, Don't Control — </a:t>
            </a:r>
            <a:r>
              <a:rPr lang="en-GB" sz="1300" b="0" strike="noStrike" spc="-1" dirty="0">
                <a:solidFill>
                  <a:srgbClr val="000000"/>
                </a:solidFill>
                <a:latin typeface="Times New Roman"/>
                <a:ea typeface="ＭＳ Ｐゴシック"/>
              </a:rPr>
              <a:t>Dashboard observes; robots decide.</a:t>
            </a:r>
          </a:p>
          <a:p>
            <a:pPr marL="285840" indent="-28584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37" descr="image.png"/>
          <p:cNvPicPr/>
          <p:nvPr/>
        </p:nvPicPr>
        <p:blipFill>
          <a:blip r:embed="rId4"/>
          <a:stretch/>
        </p:blipFill>
        <p:spPr>
          <a:xfrm>
            <a:off x="9346680" y="5141520"/>
            <a:ext cx="2788200" cy="875880"/>
          </a:xfrm>
          <a:prstGeom prst="rect">
            <a:avLst/>
          </a:prstGeom>
          <a:ln w="0">
            <a:noFill/>
          </a:ln>
        </p:spPr>
      </p:pic>
      <p:sp>
        <p:nvSpPr>
          <p:cNvPr id="107" name="TextBox 38"/>
          <p:cNvSpPr/>
          <p:nvPr/>
        </p:nvSpPr>
        <p:spPr>
          <a:xfrm>
            <a:off x="9315720" y="5125320"/>
            <a:ext cx="2848680" cy="8910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Cell-Level Deadlock Resolution: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physical block persists, the lower-priority robot moves to an available backup cell and replans.</a:t>
            </a:r>
            <a:endParaRPr lang="en-US" sz="13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Picture 39"/>
          <p:cNvPicPr/>
          <p:nvPr/>
        </p:nvPicPr>
        <p:blipFill>
          <a:blip r:embed="rId9"/>
          <a:stretch/>
        </p:blipFill>
        <p:spPr>
          <a:xfrm>
            <a:off x="3002760" y="1235160"/>
            <a:ext cx="6215400" cy="3471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-13500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sng" strike="noStrike" spc="-1">
                <a:solidFill>
                  <a:schemeClr val="dk1"/>
                </a:solidFill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7BFF69-DA9B-49A5-AAD8-395EC0F00747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Oval 10"/>
          <p:cNvSpPr/>
          <p:nvPr/>
        </p:nvSpPr>
        <p:spPr>
          <a:xfrm>
            <a:off x="56160" y="24480"/>
            <a:ext cx="149868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CLUSTER HEAD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Picture 11"/>
          <p:cNvPicPr/>
          <p:nvPr/>
        </p:nvPicPr>
        <p:blipFill>
          <a:blip r:embed="rId3"/>
          <a:stretch/>
        </p:blipFill>
        <p:spPr>
          <a:xfrm>
            <a:off x="9855720" y="-5760"/>
            <a:ext cx="1801800" cy="85068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"/>
          <p:cNvPicPr/>
          <p:nvPr/>
        </p:nvPicPr>
        <p:blipFill>
          <a:blip r:embed="rId4"/>
          <a:stretch/>
        </p:blipFill>
        <p:spPr>
          <a:xfrm>
            <a:off x="109080" y="831600"/>
            <a:ext cx="11973600" cy="550908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114"/>
          <p:cNvPicPr/>
          <p:nvPr/>
        </p:nvPicPr>
        <p:blipFill>
          <a:blip r:embed="rId5"/>
          <a:srcRect t="4854"/>
          <a:stretch/>
        </p:blipFill>
        <p:spPr>
          <a:xfrm>
            <a:off x="8915400" y="1230840"/>
            <a:ext cx="2971800" cy="133128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CF35D-4891-C3E4-C25B-303E5F93A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0" y="844920"/>
            <a:ext cx="12192000" cy="5617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38E75B-A8CA-2762-F5DA-85246C3C22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611"/>
          <a:stretch>
            <a:fillRect/>
          </a:stretch>
        </p:blipFill>
        <p:spPr>
          <a:xfrm>
            <a:off x="9017000" y="1239328"/>
            <a:ext cx="3065680" cy="13910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0360" y="-396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sng" strike="noStrike" spc="-1">
                <a:solidFill>
                  <a:schemeClr val="dk1"/>
                </a:solidFill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68E521-4BB7-41CE-9455-B9A72C85E5C8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Oval 11"/>
          <p:cNvSpPr/>
          <p:nvPr/>
        </p:nvSpPr>
        <p:spPr>
          <a:xfrm>
            <a:off x="289080" y="177120"/>
            <a:ext cx="1446120" cy="886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CLUSTER HEAD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10"/>
          <p:cNvPicPr/>
          <p:nvPr/>
        </p:nvPicPr>
        <p:blipFill>
          <a:blip r:embed="rId3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ln w="0">
            <a:noFill/>
          </a:ln>
        </p:spPr>
      </p:pic>
      <p:sp>
        <p:nvSpPr>
          <p:cNvPr id="121" name="TextBox 17409"/>
          <p:cNvSpPr/>
          <p:nvPr/>
        </p:nvSpPr>
        <p:spPr>
          <a:xfrm>
            <a:off x="450360" y="1210089"/>
            <a:ext cx="6126120" cy="3217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IN" sz="1500" b="1" u="sng" strike="noStrike" spc="-1" dirty="0">
                <a:solidFill>
                  <a:srgbClr val="186E2C"/>
                </a:solidFill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ANALYSIS OF THE FEASIBILITY </a:t>
            </a:r>
            <a:endParaRPr lang="en-US" sz="15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" name="Table 17410"/>
          <p:cNvGraphicFramePr/>
          <p:nvPr>
            <p:extLst>
              <p:ext uri="{D42A27DB-BD31-4B8C-83A1-F6EECF244321}">
                <p14:modId xmlns:p14="http://schemas.microsoft.com/office/powerpoint/2010/main" val="557190671"/>
              </p:ext>
            </p:extLst>
          </p:nvPr>
        </p:nvGraphicFramePr>
        <p:xfrm>
          <a:off x="390240" y="1572120"/>
          <a:ext cx="5512397" cy="4001160"/>
        </p:xfrm>
        <a:graphic>
          <a:graphicData uri="http://schemas.openxmlformats.org/drawingml/2006/table">
            <a:tbl>
              <a:tblPr/>
              <a:tblGrid>
                <a:gridCol w="151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Assessment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Proven methods: A* path planning + rule-based scoring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model training or specialised hardware required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Proof of concept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 3-robot prototype in Python + Pygame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Decentralised: each robot makes its own decisions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is monitor-only; it never controls robots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and reliability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Robots negotiate right-of-way before a narrow lane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 =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0.5(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0.3(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urgency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0.2(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factor)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ies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ower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Robot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Identical 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 per robot; fleet size can be extended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Path: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imulation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dge hardware (Pi / Jetson)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and resources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stack;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cloud or license costs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on a standard laptop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Measurability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Logs collisions, waiting time, messages, completion time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Target: ≥20%</a:t>
                      </a:r>
                      <a:r>
                        <a:rPr lang="en-IN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reduction in total task completion time vs stop-and-wait baseline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" name="TextBox 17411"/>
          <p:cNvSpPr/>
          <p:nvPr/>
        </p:nvSpPr>
        <p:spPr>
          <a:xfrm>
            <a:off x="6320519" y="1187409"/>
            <a:ext cx="5964613" cy="3217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5000" rIns="0" bIns="4500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IN" sz="1500" b="1" u="sng" strike="noStrike" spc="-1" dirty="0">
                <a:solidFill>
                  <a:srgbClr val="186E2C"/>
                </a:solidFill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POTENTIAL CHALLENGES AND WAYS TO OVERCOME THEM</a:t>
            </a:r>
            <a:endParaRPr lang="en-US" sz="15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4" name="Table 17412"/>
          <p:cNvGraphicFramePr/>
          <p:nvPr>
            <p:extLst>
              <p:ext uri="{D42A27DB-BD31-4B8C-83A1-F6EECF244321}">
                <p14:modId xmlns:p14="http://schemas.microsoft.com/office/powerpoint/2010/main" val="2963085870"/>
              </p:ext>
            </p:extLst>
          </p:nvPr>
        </p:nvGraphicFramePr>
        <p:xfrm>
          <a:off x="6161040" y="1572120"/>
          <a:ext cx="5868720" cy="4160520"/>
        </p:xfrm>
        <a:graphic>
          <a:graphicData uri="http://schemas.openxmlformats.org/drawingml/2006/table">
            <a:tbl>
              <a:tblPr/>
              <a:tblGrid>
                <a:gridCol w="1906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312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  <a:r>
                        <a:rPr lang="en-IN" sz="14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IN" sz="14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isk</a:t>
                      </a:r>
                      <a:r>
                        <a:rPr lang="en-IN" sz="1400" b="1" strike="noStrike" spc="-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4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IN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Unfair priority decisions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 priority settings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across settings; 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run</a:t>
                      </a: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should be logged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based on Urgency+Waiting time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4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Stale or lost messages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Timestamped messages published every 1 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Robots use the latest valid peer state before entering a contested lane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Inconsistent robot decisions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Identical scoring formula and message format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tie-break using robot ID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4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Starvation and deadlock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</a:t>
                      </a:r>
                      <a:r>
                        <a:rPr lang="en-IN" sz="11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</a:t>
                      </a:r>
                      <a:r>
                        <a:rPr lang="en-US" sz="11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100" b="0" strike="noStrike" spc="-1" dirty="0" err="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riority</a:t>
                      </a:r>
                      <a:r>
                        <a:rPr lang="en-IN" sz="11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score,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helping reduce starvation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tie-breaking provides predictable conflict resolution.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469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local view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IN" sz="1200" b="0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Robots broadcast Position,Target,Priority,Urgency,Wait time and ETA every 1s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1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 beyond 3 robots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Compact, fixed-size messages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4–5 robots once the core is stable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469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Simulation-to-real gap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code is independent of hardware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360" indent="-171360" defTabSz="457200">
                        <a:lnSpc>
                          <a:spcPct val="100000"/>
                        </a:lnSpc>
                        <a:buClr>
                          <a:srgbClr val="1F2A37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 dirty="0">
                          <a:solidFill>
                            <a:srgbClr val="1F2A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 / Jetson trial planned for next phase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80" marR="547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5" name="Scope note"/>
          <p:cNvSpPr/>
          <p:nvPr/>
        </p:nvSpPr>
        <p:spPr>
          <a:xfrm>
            <a:off x="400500" y="5807133"/>
            <a:ext cx="11521080" cy="50256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45000" rIns="13716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GB" sz="1400" b="1" strike="noStrike" spc="-1" dirty="0">
                <a:solidFill>
                  <a:srgbClr val="186E2C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Scope:</a:t>
            </a:r>
            <a:r>
              <a:rPr lang="en-GB" sz="1400" b="0" strike="noStrike" spc="-1" dirty="0">
                <a:solidFill>
                  <a:srgbClr val="186E2C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GB" sz="1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3 AMRs with decentralized coordination, A* planning, Conflict resolution, Dynamic rerouting and Task reassignment is proposed as an extension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</a:pPr>
            <a:r>
              <a:rPr lang="en-GB" sz="1400" b="1" strike="noStrike" spc="-1" dirty="0">
                <a:solidFill>
                  <a:srgbClr val="186E2C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Future:</a:t>
            </a:r>
            <a:r>
              <a:rPr lang="en-GB" sz="1400" b="0" strike="noStrike" spc="-1" dirty="0">
                <a:solidFill>
                  <a:srgbClr val="186E2C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GB" sz="1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Edge deployment, Real-world validation and larger fleets.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C4C744E-F4EE-4698-9418-8D56AC322C77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41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FFFFFF"/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TradeGothic"/>
              </a:rPr>
              <a:t>@SIH Idea submission- Template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Rectangle: Rounded Corners 17989"/>
          <p:cNvSpPr/>
          <p:nvPr/>
        </p:nvSpPr>
        <p:spPr>
          <a:xfrm>
            <a:off x="394080" y="4290540"/>
            <a:ext cx="2551300" cy="20076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30" name="Rectangle: Rounded Corners 17993"/>
          <p:cNvSpPr/>
          <p:nvPr/>
        </p:nvSpPr>
        <p:spPr>
          <a:xfrm>
            <a:off x="3228951" y="4251720"/>
            <a:ext cx="2576640" cy="20076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31" name="Rectangle: Rounded Corners 17991"/>
          <p:cNvSpPr/>
          <p:nvPr/>
        </p:nvSpPr>
        <p:spPr>
          <a:xfrm>
            <a:off x="3268800" y="2155803"/>
            <a:ext cx="2516360" cy="200922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32" name="Rectangle: Rounded Corners 17987"/>
          <p:cNvSpPr/>
          <p:nvPr/>
        </p:nvSpPr>
        <p:spPr>
          <a:xfrm>
            <a:off x="400200" y="2166660"/>
            <a:ext cx="2545180" cy="198972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1386360" y="157680"/>
            <a:ext cx="916416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209" b="1" u="sng" strike="noStrike" spc="49">
                <a:solidFill>
                  <a:srgbClr val="111111"/>
                </a:solidFill>
                <a:uFillTx/>
                <a:latin typeface="Times New Roman"/>
                <a:ea typeface="Times New Roman"/>
              </a:rPr>
              <a:t>IMPACT AND BENEFITS</a:t>
            </a:r>
            <a:endParaRPr lang="en-US" sz="3209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0" descr="preencoded.png"/>
          <p:cNvPicPr/>
          <p:nvPr/>
        </p:nvPicPr>
        <p:blipFill>
          <a:blip r:embed="rId3"/>
          <a:stretch/>
        </p:blipFill>
        <p:spPr>
          <a:xfrm>
            <a:off x="10341360" y="76320"/>
            <a:ext cx="1697760" cy="635040"/>
          </a:xfrm>
          <a:prstGeom prst="rect">
            <a:avLst/>
          </a:prstGeom>
          <a:ln w="0">
            <a:noFill/>
          </a:ln>
        </p:spPr>
      </p:pic>
      <p:sp>
        <p:nvSpPr>
          <p:cNvPr id="135" name="Shape 4"/>
          <p:cNvSpPr/>
          <p:nvPr/>
        </p:nvSpPr>
        <p:spPr>
          <a:xfrm>
            <a:off x="355320" y="876240"/>
            <a:ext cx="11481120" cy="941760"/>
          </a:xfrm>
          <a:prstGeom prst="roundRect">
            <a:avLst>
              <a:gd name="adj" fmla="val 8089"/>
            </a:avLst>
          </a:prstGeom>
          <a:solidFill>
            <a:schemeClr val="accent6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558000" y="923400"/>
            <a:ext cx="271080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81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           </a:t>
            </a:r>
            <a:r>
              <a:rPr lang="en-US" sz="28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0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466200" y="1184040"/>
            <a:ext cx="256752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collisions observed in tested simulation runs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3225600" y="876240"/>
            <a:ext cx="9000" cy="941760"/>
          </a:xfrm>
          <a:prstGeom prst="rect">
            <a:avLst/>
          </a:prstGeom>
          <a:solidFill>
            <a:srgbClr val="D5DA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3235320" y="838800"/>
            <a:ext cx="2894400" cy="61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2400" b="1" dirty="0">
                <a:solidFill>
                  <a:srgbClr val="002060"/>
                </a:solidFill>
              </a:rPr>
              <a:t> Target </a:t>
            </a:r>
            <a:r>
              <a:rPr lang="en-IN" sz="2400" b="1" strike="noStrike" spc="-1" dirty="0">
                <a:solidFill>
                  <a:srgbClr val="002060"/>
                </a:solidFill>
                <a:latin typeface="Times New Roman"/>
                <a:ea typeface="Calibri"/>
              </a:rPr>
              <a:t>≥</a:t>
            </a:r>
            <a:r>
              <a:rPr lang="en-IN" sz="1800" b="1" strike="noStrike" spc="-1" dirty="0">
                <a:solidFill>
                  <a:srgbClr val="002060"/>
                </a:solidFill>
                <a:latin typeface="Calibri"/>
                <a:ea typeface="ＭＳ Ｐゴシック"/>
              </a:rPr>
              <a:t> </a:t>
            </a:r>
            <a:r>
              <a:rPr lang="en-IN" sz="2400" b="1" strike="noStrike" spc="-1" dirty="0">
                <a:solidFill>
                  <a:srgbClr val="002060"/>
                </a:solidFill>
                <a:latin typeface="Times New Roman"/>
                <a:ea typeface="Calibri"/>
              </a:rPr>
              <a:t>20%</a:t>
            </a:r>
            <a:r>
              <a:rPr lang="en-IN" sz="1800" b="1" strike="noStrike" spc="-1" dirty="0">
                <a:solidFill>
                  <a:srgbClr val="002060"/>
                </a:solidFill>
                <a:latin typeface="Calibri"/>
                <a:ea typeface="ＭＳ Ｐゴシック"/>
              </a:rPr>
              <a:t> </a:t>
            </a:r>
            <a:endParaRPr lang="en-US" sz="1800" b="1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3071880" y="1169640"/>
            <a:ext cx="3193920" cy="5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Reduction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in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Task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Completion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Time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(vs.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8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Stop-and-Wait)</a:t>
            </a:r>
            <a:r>
              <a:rPr lang="en-IN" sz="20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6095880" y="876240"/>
            <a:ext cx="9000" cy="941760"/>
          </a:xfrm>
          <a:prstGeom prst="rect">
            <a:avLst/>
          </a:prstGeom>
          <a:solidFill>
            <a:srgbClr val="D5DA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6212880" y="914400"/>
            <a:ext cx="2702160" cy="42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457200">
              <a:lnSpc>
                <a:spcPct val="81000"/>
              </a:lnSpc>
            </a:pPr>
            <a:r>
              <a:rPr lang="en-IN" sz="28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1 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6216480" y="1203120"/>
            <a:ext cx="2586240" cy="63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6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P2P</a:t>
            </a: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6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State</a:t>
            </a: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6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&amp;</a:t>
            </a: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6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Intent</a:t>
            </a: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6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Broadcast</a:t>
            </a: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IN" sz="16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Frequency</a:t>
            </a:r>
            <a:r>
              <a:rPr lang="en-IN" sz="1800" b="0" strike="noStrike" spc="-1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8966520" y="876240"/>
            <a:ext cx="9000" cy="941760"/>
          </a:xfrm>
          <a:prstGeom prst="rect">
            <a:avLst/>
          </a:prstGeom>
          <a:solidFill>
            <a:srgbClr val="D5DA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9002095" y="844852"/>
            <a:ext cx="2702160" cy="61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IN" sz="3000" b="1" spc="-1" dirty="0">
                <a:solidFill>
                  <a:srgbClr val="1B2A5C"/>
                </a:solidFill>
                <a:latin typeface="Times New Roman"/>
                <a:ea typeface="Calibri"/>
              </a:rPr>
              <a:t>Local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8634600" y="1261440"/>
            <a:ext cx="34808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600" b="0" strike="noStrike" spc="-1" dirty="0">
                <a:solidFill>
                  <a:srgbClr val="5E6573"/>
                </a:solidFill>
                <a:latin typeface="Times New Roman"/>
                <a:ea typeface="Calibri"/>
              </a:rPr>
              <a:t>Decision Making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IN" sz="1600" b="0" strike="noStrike" spc="-1" dirty="0">
                <a:solidFill>
                  <a:srgbClr val="5E6573"/>
                </a:solidFill>
                <a:latin typeface="Times New Roman"/>
                <a:ea typeface="Calibri"/>
              </a:rPr>
              <a:t> (No Central Movement Controller)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355320" y="1854030"/>
            <a:ext cx="591012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1B2A5C"/>
                </a:solidFill>
                <a:latin typeface="Times New Roman"/>
                <a:ea typeface="Times New Roman"/>
              </a:rPr>
              <a:t>IMPACTS (Who It Helps)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748680" y="2238660"/>
            <a:ext cx="1639800" cy="6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91000"/>
              </a:lnSpc>
            </a:pPr>
            <a:r>
              <a:rPr lang="en-IN" sz="13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Warehouse Operators &amp; Fleet Managers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1000"/>
              </a:lnSpc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91000"/>
              </a:lnSpc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439080" y="272682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0070C0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529800" y="2726820"/>
            <a:ext cx="2415580" cy="740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06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Reduced Central Dependency:</a:t>
            </a:r>
            <a:r>
              <a:rPr lang="en-IN" sz="106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robots can continue local coordination when the control-room connection is unavailable.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452760" y="308646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2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531240" y="3319740"/>
            <a:ext cx="2348640" cy="7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06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Real-Time </a:t>
            </a: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Fleet Oversight :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Read-only visual dashboard provides complete live status, battery levels, and telemetry without controlling or delaying robot paths.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453840" y="361926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2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574080" y="3614580"/>
            <a:ext cx="2291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5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3480300" y="2253360"/>
            <a:ext cx="203796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91000"/>
              </a:lnSpc>
              <a:tabLst>
                <a:tab pos="0" algn="l"/>
              </a:tabLst>
            </a:pPr>
            <a:r>
              <a:rPr lang="en-IN" sz="13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Warehouse Floor &amp; Safety Supervisors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3312180" y="266376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B7791F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3405420" y="2679960"/>
            <a:ext cx="2291760" cy="67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Pre-emptive Conflict Resolution: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robots negotiate right-of-way before entering contested narrow aisles, reducing collision risk.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3319380" y="336180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B7791F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3405780" y="3358560"/>
            <a:ext cx="2247224" cy="701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Deadlock/Starvation Handling: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wait-time escalation and deterministic tie-breaking help robots progress through repeated bottleneck conflicts</a:t>
            </a:r>
            <a:r>
              <a:rPr lang="en-IN" sz="106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.</a:t>
            </a:r>
            <a:endParaRPr lang="en-US" sz="106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3301380" y="356664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2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3441420" y="3566640"/>
            <a:ext cx="2291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5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63" name="Text 38"/>
          <p:cNvSpPr/>
          <p:nvPr/>
        </p:nvSpPr>
        <p:spPr>
          <a:xfrm>
            <a:off x="700440" y="4321140"/>
            <a:ext cx="1770480" cy="38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91000"/>
              </a:lnSpc>
            </a:pPr>
            <a:r>
              <a:rPr lang="en-IN" sz="13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Logistics &amp; Supply Chain Operations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9"/>
          <p:cNvSpPr/>
          <p:nvPr/>
        </p:nvSpPr>
        <p:spPr>
          <a:xfrm>
            <a:off x="445920" y="475134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2F855A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0"/>
          <p:cNvSpPr/>
          <p:nvPr/>
        </p:nvSpPr>
        <p:spPr>
          <a:xfrm>
            <a:off x="531240" y="4741620"/>
            <a:ext cx="21189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Adaptive Obstacle Detours :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Robots locally recalculate alternative routes around blocked aisles using A*, minimizing delivery downtime</a:t>
            </a:r>
            <a:r>
              <a:rPr lang="en-IN" sz="10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1"/>
          <p:cNvSpPr/>
          <p:nvPr/>
        </p:nvSpPr>
        <p:spPr>
          <a:xfrm>
            <a:off x="426480" y="540726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lnSpcReduction="10000"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200" b="0" strike="noStrike" spc="-1" dirty="0">
              <a:solidFill>
                <a:srgbClr val="2F855A"/>
              </a:solidFill>
              <a:latin typeface="Times New Roman"/>
              <a:ea typeface="Calibri"/>
            </a:endParaRPr>
          </a:p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2F855A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2"/>
          <p:cNvSpPr/>
          <p:nvPr/>
        </p:nvSpPr>
        <p:spPr>
          <a:xfrm>
            <a:off x="558720" y="5574779"/>
            <a:ext cx="2291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Fair Resource Sharing 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wait-time priority scaling helps reduce repeated blocking and starvation.</a:t>
            </a:r>
            <a:endParaRPr lang="en-US" sz="11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 45"/>
          <p:cNvSpPr/>
          <p:nvPr/>
        </p:nvSpPr>
        <p:spPr>
          <a:xfrm>
            <a:off x="3524164" y="4324320"/>
            <a:ext cx="18486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91000"/>
              </a:lnSpc>
            </a:pPr>
            <a:r>
              <a:rPr lang="en-IN" sz="13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IT &amp; Edge Deployment Engineers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6"/>
          <p:cNvSpPr/>
          <p:nvPr/>
        </p:nvSpPr>
        <p:spPr>
          <a:xfrm>
            <a:off x="3297364" y="467856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E6573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7"/>
          <p:cNvSpPr/>
          <p:nvPr/>
        </p:nvSpPr>
        <p:spPr>
          <a:xfrm>
            <a:off x="3395644" y="4700160"/>
            <a:ext cx="2291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Lightweight Hardware Footprint :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Designed for lightweight edge deployment (e.g., Raspberry Pi / Jetson) without requiring complex middleware.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48"/>
          <p:cNvSpPr/>
          <p:nvPr/>
        </p:nvSpPr>
        <p:spPr>
          <a:xfrm>
            <a:off x="3299164" y="5342040"/>
            <a:ext cx="1519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lnSpcReduction="10000"/>
          </a:bodyPr>
          <a:lstStyle/>
          <a:p>
            <a:pPr defTabSz="457200">
              <a:lnSpc>
                <a:spcPct val="104000"/>
              </a:lnSpc>
              <a:tabLst>
                <a:tab pos="0" algn="l"/>
              </a:tabLst>
            </a:pPr>
            <a:endParaRPr lang="en-US" sz="1200" b="0" strike="noStrike" spc="-1" dirty="0">
              <a:solidFill>
                <a:srgbClr val="5E6573"/>
              </a:solidFill>
              <a:latin typeface="Times New Roman"/>
              <a:ea typeface="Calibri"/>
            </a:endParaRPr>
          </a:p>
          <a:p>
            <a:pPr defTabSz="457200">
              <a:lnSpc>
                <a:spcPct val="104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5E6573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9"/>
          <p:cNvSpPr/>
          <p:nvPr/>
        </p:nvSpPr>
        <p:spPr>
          <a:xfrm>
            <a:off x="3361244" y="5503752"/>
            <a:ext cx="2291760" cy="68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Low Network Strain : </a:t>
            </a:r>
            <a:r>
              <a:rPr lang="en-IN" sz="1100" b="0" strike="noStrike" spc="-1" dirty="0">
                <a:solidFill>
                  <a:srgbClr val="2B2F38"/>
                </a:solidFill>
                <a:latin typeface="Times New Roman"/>
                <a:ea typeface="Calibri"/>
              </a:rPr>
              <a:t>Replaces continuous heavy cloud streaming with lightweight, periodic peer-to-peer JSON messages.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0"/>
          <p:cNvSpPr/>
          <p:nvPr/>
        </p:nvSpPr>
        <p:spPr>
          <a:xfrm>
            <a:off x="6033240" y="1747240"/>
            <a:ext cx="5802840" cy="9000"/>
          </a:xfrm>
          <a:prstGeom prst="rect">
            <a:avLst/>
          </a:prstGeom>
          <a:solidFill>
            <a:srgbClr val="D5DA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74" name="Shape 52"/>
          <p:cNvSpPr/>
          <p:nvPr/>
        </p:nvSpPr>
        <p:spPr>
          <a:xfrm>
            <a:off x="6033240" y="1915790"/>
            <a:ext cx="1874880" cy="1239480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175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49520" y="2026310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176" name="Text 53"/>
          <p:cNvSpPr/>
          <p:nvPr/>
        </p:nvSpPr>
        <p:spPr>
          <a:xfrm>
            <a:off x="6385320" y="1978430"/>
            <a:ext cx="1477800" cy="38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88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Maximized Productivity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4"/>
          <p:cNvSpPr/>
          <p:nvPr/>
        </p:nvSpPr>
        <p:spPr>
          <a:xfrm>
            <a:off x="6166800" y="2390270"/>
            <a:ext cx="1789560" cy="53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Targets ≥20% faster task completion compared to traditional stop-and-wait approaches.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55"/>
          <p:cNvSpPr/>
          <p:nvPr/>
        </p:nvSpPr>
        <p:spPr>
          <a:xfrm>
            <a:off x="8048202" y="1915790"/>
            <a:ext cx="1874880" cy="1239480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179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15522" y="2027390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180" name="Text 56"/>
          <p:cNvSpPr/>
          <p:nvPr/>
        </p:nvSpPr>
        <p:spPr>
          <a:xfrm>
            <a:off x="8230002" y="1947110"/>
            <a:ext cx="1511280" cy="31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4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Reduced Single Point of Failure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57"/>
          <p:cNvSpPr/>
          <p:nvPr/>
        </p:nvSpPr>
        <p:spPr>
          <a:xfrm>
            <a:off x="8082762" y="2410430"/>
            <a:ext cx="1974240" cy="53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5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Removes central server dependency by embedding local pathfinding (A^*) and priority logic directly onto each robot.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58"/>
          <p:cNvSpPr/>
          <p:nvPr/>
        </p:nvSpPr>
        <p:spPr>
          <a:xfrm>
            <a:off x="10124261" y="1932817"/>
            <a:ext cx="1874880" cy="1239480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183" name="Image 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178522" y="3542388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184" name="Text 59"/>
          <p:cNvSpPr/>
          <p:nvPr/>
        </p:nvSpPr>
        <p:spPr>
          <a:xfrm>
            <a:off x="10272581" y="1954670"/>
            <a:ext cx="1811160" cy="38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4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Pre-Emptive Conflict Resolution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60"/>
          <p:cNvSpPr/>
          <p:nvPr/>
        </p:nvSpPr>
        <p:spPr>
          <a:xfrm>
            <a:off x="10187981" y="2407190"/>
            <a:ext cx="1811160" cy="53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AMRs negotiate narrow-lane access prior to entry rather than reacting after proximity warnings.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61"/>
          <p:cNvSpPr/>
          <p:nvPr/>
        </p:nvSpPr>
        <p:spPr>
          <a:xfrm>
            <a:off x="6033240" y="3396588"/>
            <a:ext cx="1874880" cy="1239480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187" name="Image 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170341" y="2003270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188" name="Text 62"/>
          <p:cNvSpPr/>
          <p:nvPr/>
        </p:nvSpPr>
        <p:spPr>
          <a:xfrm>
            <a:off x="6375600" y="3374268"/>
            <a:ext cx="1477800" cy="38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5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Anti-Starvation Fairness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3"/>
          <p:cNvSpPr/>
          <p:nvPr/>
        </p:nvSpPr>
        <p:spPr>
          <a:xfrm>
            <a:off x="6032520" y="3856668"/>
            <a:ext cx="2091960" cy="53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Priority Score (α·P + β·U +</a:t>
            </a:r>
            <a:b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</a:b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 </a:t>
            </a:r>
            <a:r>
              <a:rPr lang="en-IN" sz="1200" b="0" strike="noStrike" spc="-1" dirty="0" err="1">
                <a:solidFill>
                  <a:srgbClr val="2F343D"/>
                </a:solidFill>
                <a:latin typeface="Times New Roman"/>
                <a:ea typeface="Calibri"/>
              </a:rPr>
              <a:t>γ</a:t>
            </a:r>
            <a:r>
              <a:rPr lang="en-IN" sz="1150" b="0" strike="noStrike" spc="-1" dirty="0" err="1">
                <a:solidFill>
                  <a:srgbClr val="2F34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·W</a:t>
            </a:r>
            <a:r>
              <a:rPr lang="en-IN" sz="1150" b="0" strike="noStrike" spc="-1" dirty="0">
                <a:solidFill>
                  <a:srgbClr val="2F34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 automatically escalates</a:t>
            </a:r>
            <a:br>
              <a:rPr lang="en-IN" sz="1150" b="0" strike="noStrike" spc="-1" dirty="0">
                <a:solidFill>
                  <a:srgbClr val="2F34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r>
              <a:rPr lang="en-IN" sz="1150" b="0" strike="noStrike" spc="-1" dirty="0">
                <a:solidFill>
                  <a:srgbClr val="2F34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for waiting </a:t>
            </a:r>
            <a:r>
              <a:rPr lang="en-IN" sz="1150" b="0" strike="noStrike" spc="-1" dirty="0" err="1">
                <a:solidFill>
                  <a:srgbClr val="2F34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robots,</a:t>
            </a:r>
            <a:r>
              <a:rPr lang="en-IN" sz="1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helping</a:t>
            </a:r>
            <a: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</a:t>
            </a:r>
            <a:b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lve</a:t>
            </a:r>
            <a: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repeated bottleneck conflicts.</a:t>
            </a:r>
            <a:endParaRPr lang="en-US" sz="115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Shape 64"/>
          <p:cNvSpPr/>
          <p:nvPr/>
        </p:nvSpPr>
        <p:spPr>
          <a:xfrm>
            <a:off x="8069082" y="3389388"/>
            <a:ext cx="1874880" cy="1239480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191" name="Text 65"/>
          <p:cNvSpPr/>
          <p:nvPr/>
        </p:nvSpPr>
        <p:spPr>
          <a:xfrm>
            <a:off x="8436642" y="3418908"/>
            <a:ext cx="1319040" cy="47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5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Deterministic Tie-Breaking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66"/>
          <p:cNvSpPr/>
          <p:nvPr/>
        </p:nvSpPr>
        <p:spPr>
          <a:xfrm>
            <a:off x="8107602" y="3898068"/>
            <a:ext cx="1843920" cy="5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Resolves equal priority scores predictably using unique Robot IDs to ensure reproducible fleet execution.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67"/>
          <p:cNvSpPr/>
          <p:nvPr/>
        </p:nvSpPr>
        <p:spPr>
          <a:xfrm>
            <a:off x="10155941" y="3396588"/>
            <a:ext cx="1874880" cy="1239480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194" name="Image 1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0330181" y="3542388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195" name="Text 68"/>
          <p:cNvSpPr/>
          <p:nvPr/>
        </p:nvSpPr>
        <p:spPr>
          <a:xfrm>
            <a:off x="10553021" y="3450228"/>
            <a:ext cx="1477800" cy="38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400" b="1" strike="noStrike" spc="-1">
                <a:solidFill>
                  <a:srgbClr val="1B2A5C"/>
                </a:solidFill>
                <a:latin typeface="Times New Roman"/>
                <a:ea typeface="Calibri"/>
              </a:rPr>
              <a:t>Simulated &amp; Tested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69"/>
          <p:cNvSpPr/>
          <p:nvPr/>
        </p:nvSpPr>
        <p:spPr>
          <a:xfrm>
            <a:off x="10199141" y="3907788"/>
            <a:ext cx="1941480" cy="53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Multi-agent 2D Python/</a:t>
            </a:r>
            <a:r>
              <a:rPr lang="en-IN" sz="1200" b="0" strike="noStrike" spc="-1" dirty="0" err="1">
                <a:solidFill>
                  <a:srgbClr val="2F343D"/>
                </a:solidFill>
                <a:latin typeface="Times New Roman"/>
                <a:ea typeface="Calibri"/>
              </a:rPr>
              <a:t>Pygame</a:t>
            </a:r>
            <a:r>
              <a:rPr lang="en-IN" sz="120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 testbed with 3 AMRs; 0 collisions observed across tested scenarios.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70"/>
          <p:cNvSpPr/>
          <p:nvPr/>
        </p:nvSpPr>
        <p:spPr>
          <a:xfrm>
            <a:off x="6038460" y="4898499"/>
            <a:ext cx="1843020" cy="1319781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198" name="Image 1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166800" y="4943986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199" name="Text 71"/>
          <p:cNvSpPr/>
          <p:nvPr/>
        </p:nvSpPr>
        <p:spPr>
          <a:xfrm>
            <a:off x="6410160" y="4867666"/>
            <a:ext cx="14778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Full </a:t>
            </a:r>
            <a:r>
              <a:rPr lang="en-IN" sz="15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Telemetry</a:t>
            </a:r>
            <a:r>
              <a:rPr lang="en-IN" sz="1600" b="0" strike="noStrike" spc="-1" dirty="0">
                <a:solidFill>
                  <a:schemeClr val="dk1"/>
                </a:solidFill>
                <a:latin typeface="Calibri"/>
                <a:ea typeface="ＭＳ Ｐゴシック"/>
              </a:rPr>
              <a:t> </a:t>
            </a:r>
            <a:r>
              <a:rPr lang="en-US" sz="1500" b="1" strike="noStrike" spc="-1" dirty="0">
                <a:solidFill>
                  <a:srgbClr val="1B2A5C"/>
                </a:solidFill>
                <a:latin typeface="Times New Roman"/>
                <a:ea typeface="Calibri"/>
              </a:rPr>
              <a:t>Transparency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2"/>
          <p:cNvSpPr/>
          <p:nvPr/>
        </p:nvSpPr>
        <p:spPr>
          <a:xfrm>
            <a:off x="6080040" y="5388226"/>
            <a:ext cx="1801440" cy="53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99000"/>
              </a:lnSpc>
            </a:pPr>
            <a:r>
              <a:rPr lang="en-IN" sz="115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Dedicated </a:t>
            </a:r>
            <a:r>
              <a:rPr lang="en-IN" sz="1150" b="0" strike="noStrike" spc="-1" dirty="0" err="1">
                <a:solidFill>
                  <a:srgbClr val="2F343D"/>
                </a:solidFill>
                <a:latin typeface="Times New Roman"/>
                <a:ea typeface="Calibri"/>
              </a:rPr>
              <a:t>Pygame</a:t>
            </a:r>
            <a:r>
              <a:rPr lang="en-IN" sz="1150" b="0" strike="noStrike" spc="-1" dirty="0">
                <a:solidFill>
                  <a:srgbClr val="2F343D"/>
                </a:solidFill>
                <a:latin typeface="Times New Roman"/>
                <a:ea typeface="Calibri"/>
              </a:rPr>
              <a:t> dashboard logs positions, status, battery, and P2P chatter for complete auditability.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73"/>
          <p:cNvSpPr/>
          <p:nvPr/>
        </p:nvSpPr>
        <p:spPr>
          <a:xfrm>
            <a:off x="8041680" y="4899983"/>
            <a:ext cx="1909842" cy="1349593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202" name="Image 1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108669" y="4960546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203" name="Text 74"/>
          <p:cNvSpPr/>
          <p:nvPr/>
        </p:nvSpPr>
        <p:spPr>
          <a:xfrm>
            <a:off x="8249000" y="4840306"/>
            <a:ext cx="1874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Battery Management</a:t>
            </a:r>
            <a:endParaRPr lang="en-US" sz="1500" b="1" strike="noStrike" spc="-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Text 75"/>
          <p:cNvSpPr/>
          <p:nvPr/>
        </p:nvSpPr>
        <p:spPr>
          <a:xfrm>
            <a:off x="8075562" y="5361226"/>
            <a:ext cx="173196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monitor battery level, route to charging stations when critically low, charge, and resume their saved task.</a:t>
            </a:r>
            <a:endParaRPr lang="en-US" sz="118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Shape 76"/>
          <p:cNvSpPr/>
          <p:nvPr/>
        </p:nvSpPr>
        <p:spPr>
          <a:xfrm>
            <a:off x="10155941" y="4905242"/>
            <a:ext cx="1883178" cy="1349038"/>
          </a:xfrm>
          <a:prstGeom prst="roundRect">
            <a:avLst>
              <a:gd name="adj" fmla="val 5147"/>
            </a:avLst>
          </a:prstGeom>
          <a:noFill/>
          <a:ln w="7620">
            <a:solidFill>
              <a:srgbClr val="DD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pic>
        <p:nvPicPr>
          <p:cNvPr id="206" name="Image 1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0240901" y="4942186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207" name="Text 77"/>
          <p:cNvSpPr/>
          <p:nvPr/>
        </p:nvSpPr>
        <p:spPr>
          <a:xfrm>
            <a:off x="10470581" y="4857946"/>
            <a:ext cx="1498680" cy="21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500" b="1" strike="noStrike" spc="-1" dirty="0">
                <a:solidFill>
                  <a:srgbClr val="002060"/>
                </a:solidFill>
                <a:latin typeface="Times New Roman"/>
                <a:ea typeface="Calibri"/>
              </a:rPr>
              <a:t>Lightweight P2P Communication</a:t>
            </a:r>
            <a:endParaRPr lang="en-US" sz="15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208" name="Text 78"/>
          <p:cNvSpPr/>
          <p:nvPr/>
        </p:nvSpPr>
        <p:spPr>
          <a:xfrm>
            <a:off x="10199141" y="5313240"/>
            <a:ext cx="2034720" cy="75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exchange compact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messages every 1 sec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dependence on continuous centralized communication.</a:t>
            </a: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Shape 79"/>
          <p:cNvSpPr/>
          <p:nvPr/>
        </p:nvSpPr>
        <p:spPr>
          <a:xfrm>
            <a:off x="0" y="6299640"/>
            <a:ext cx="12191760" cy="5331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  <a:ea typeface="ＭＳ Ｐゴシック"/>
            </a:endParaRPr>
          </a:p>
        </p:txBody>
      </p:sp>
      <p:sp>
        <p:nvSpPr>
          <p:cNvPr id="210" name="Text 80"/>
          <p:cNvSpPr/>
          <p:nvPr/>
        </p:nvSpPr>
        <p:spPr>
          <a:xfrm>
            <a:off x="11950560" y="6488280"/>
            <a:ext cx="1648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Oval 178"/>
          <p:cNvSpPr/>
          <p:nvPr/>
        </p:nvSpPr>
        <p:spPr>
          <a:xfrm>
            <a:off x="162000" y="6840"/>
            <a:ext cx="1617480" cy="776520"/>
          </a:xfrm>
          <a:prstGeom prst="ellipse">
            <a:avLst/>
          </a:prstGeom>
          <a:noFill/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50" b="0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CLUSTER HEAD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79"/>
          <p:cNvSpPr/>
          <p:nvPr/>
        </p:nvSpPr>
        <p:spPr>
          <a:xfrm>
            <a:off x="385080" y="3301740"/>
            <a:ext cx="188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0070C0"/>
                </a:solidFill>
                <a:latin typeface="Times New Roman"/>
                <a:ea typeface="Calibri"/>
              </a:rPr>
              <a:t>•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Graphic 4" descr="Robot with solid fill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085800" y="3461028"/>
            <a:ext cx="271440" cy="271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757A89-34DC-4108-B04C-790427B05373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Oval 17"/>
          <p:cNvSpPr/>
          <p:nvPr/>
        </p:nvSpPr>
        <p:spPr>
          <a:xfrm>
            <a:off x="-11520" y="720"/>
            <a:ext cx="1378080" cy="439200"/>
          </a:xfrm>
          <a:prstGeom prst="ellipse">
            <a:avLst/>
          </a:prstGeom>
          <a:noFill/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CLUSTER HEAD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Picture 18"/>
          <p:cNvPicPr/>
          <p:nvPr/>
        </p:nvPicPr>
        <p:blipFill>
          <a:blip r:embed="rId3"/>
          <a:stretch/>
        </p:blipFill>
        <p:spPr>
          <a:xfrm>
            <a:off x="10794960" y="1080"/>
            <a:ext cx="1048320" cy="494640"/>
          </a:xfrm>
          <a:prstGeom prst="rect">
            <a:avLst/>
          </a:prstGeom>
          <a:ln w="0">
            <a:noFill/>
          </a:ln>
        </p:spPr>
      </p:pic>
      <p:sp>
        <p:nvSpPr>
          <p:cNvPr id="218" name="Rectangle 19"/>
          <p:cNvSpPr/>
          <p:nvPr/>
        </p:nvSpPr>
        <p:spPr>
          <a:xfrm>
            <a:off x="84667" y="4064000"/>
            <a:ext cx="11974539" cy="2251480"/>
          </a:xfrm>
          <a:prstGeom prst="rect">
            <a:avLst/>
          </a:prstGeom>
          <a:noFill/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IN" sz="2000" b="1" u="sng" strike="noStrike" spc="-1" dirty="0">
                <a:solidFill>
                  <a:schemeClr val="dk1"/>
                </a:solidFill>
                <a:uFillTx/>
                <a:latin typeface="Times New Roman"/>
              </a:rPr>
              <a:t>REFERENCES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400" b="1" strike="noStrike" spc="-1" dirty="0">
                <a:solidFill>
                  <a:schemeClr val="dk1"/>
                </a:solidFill>
                <a:latin typeface="Times New Roman"/>
              </a:rPr>
              <a:t>Problem Statement: 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SIH26123, </a:t>
            </a:r>
            <a:r>
              <a:rPr lang="en-IN" sz="1400" b="0" i="1" strike="noStrike" spc="-1" dirty="0">
                <a:solidFill>
                  <a:schemeClr val="dk1"/>
                </a:solidFill>
                <a:latin typeface="Times New Roman"/>
              </a:rPr>
              <a:t>"Edge-AI Based Distributed Fleet Coordination for Autonomous Mobile Robots (AMRs) in Smart Warehouses,"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 Bharat Electronics Limited (BEL), Smart India Hackathon 2026.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400" b="1" strike="noStrike" spc="-1" dirty="0">
                <a:solidFill>
                  <a:schemeClr val="dk1"/>
                </a:solidFill>
                <a:latin typeface="Times New Roman"/>
              </a:rPr>
              <a:t>VDA 5050 Standard: 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VDA 5050 v3.0.0, </a:t>
            </a:r>
            <a:r>
              <a:rPr lang="en-IN" sz="1400" b="0" i="1" strike="noStrike" spc="-1" dirty="0">
                <a:solidFill>
                  <a:schemeClr val="dk1"/>
                </a:solidFill>
                <a:latin typeface="Times New Roman"/>
              </a:rPr>
              <a:t>"VDA Specification for AGV Communication Interface," </a:t>
            </a:r>
            <a:r>
              <a:rPr lang="en-IN" sz="1400" b="0" strike="noStrike" spc="-1" dirty="0" err="1">
                <a:solidFill>
                  <a:schemeClr val="dk1"/>
                </a:solidFill>
                <a:latin typeface="Times New Roman"/>
              </a:rPr>
              <a:t>Verband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 der </a:t>
            </a:r>
            <a:r>
              <a:rPr lang="en-IN" sz="1400" b="0" strike="noStrike" spc="-1" dirty="0" err="1">
                <a:solidFill>
                  <a:schemeClr val="dk1"/>
                </a:solidFill>
                <a:latin typeface="Times New Roman"/>
              </a:rPr>
              <a:t>Automobilindustrie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 (VDA), 2023.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400" b="1" strike="noStrike" spc="-1" dirty="0">
                <a:solidFill>
                  <a:schemeClr val="dk1"/>
                </a:solidFill>
                <a:latin typeface="Times New Roman"/>
              </a:rPr>
              <a:t>Open-RMF Traffic Negotiation: 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Open Robotics, </a:t>
            </a:r>
            <a:r>
              <a:rPr lang="en-IN" sz="1400" b="0" i="1" strike="noStrike" spc="-1" dirty="0">
                <a:solidFill>
                  <a:schemeClr val="dk1"/>
                </a:solidFill>
                <a:latin typeface="Times New Roman"/>
              </a:rPr>
              <a:t>"Open-RMF Traffic Management and Negotiation Library (</a:t>
            </a:r>
            <a:r>
              <a:rPr lang="en-IN" sz="1400" b="0" i="1" strike="noStrike" spc="-1" dirty="0" err="1">
                <a:solidFill>
                  <a:schemeClr val="dk1"/>
                </a:solidFill>
                <a:latin typeface="Times New Roman"/>
              </a:rPr>
              <a:t>rmf_traffic</a:t>
            </a:r>
            <a:r>
              <a:rPr lang="en-IN" sz="1400" b="0" i="1" strike="noStrike" spc="-1" dirty="0">
                <a:solidFill>
                  <a:schemeClr val="dk1"/>
                </a:solidFill>
                <a:latin typeface="Times New Roman"/>
              </a:rPr>
              <a:t>),"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 Open Source Robotics Foundation, 2023.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400" b="1" strike="noStrike" spc="-1" dirty="0">
                <a:solidFill>
                  <a:schemeClr val="dk1"/>
                </a:solidFill>
                <a:latin typeface="Times New Roman"/>
              </a:rPr>
              <a:t>Lifelong MAPF Research: 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J. Li et al., </a:t>
            </a:r>
            <a:r>
              <a:rPr lang="en-IN" sz="1400" b="0" i="1" strike="noStrike" spc="-1" dirty="0">
                <a:solidFill>
                  <a:schemeClr val="dk1"/>
                </a:solidFill>
                <a:latin typeface="Times New Roman"/>
              </a:rPr>
              <a:t>"Lifelong Multi-Agent Path Finding in Large-Scale Warehouses," 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Proceedings of the AAAI Conference on Artificial Intelligence, Vol. 35, No. 13, pp. 11272–11281, 2021.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IN" sz="1400" b="1" strike="noStrike" spc="-1" dirty="0">
                <a:solidFill>
                  <a:schemeClr val="dk1"/>
                </a:solidFill>
                <a:latin typeface="Times New Roman"/>
              </a:rPr>
              <a:t> A Pathfinding Basis:  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P. E. Hart, N. J. Nilsson, and B. Raphael, </a:t>
            </a:r>
            <a:r>
              <a:rPr lang="en-IN" sz="1400" b="0" i="1" strike="noStrike" spc="-1" dirty="0">
                <a:solidFill>
                  <a:schemeClr val="dk1"/>
                </a:solidFill>
                <a:latin typeface="Times New Roman"/>
              </a:rPr>
              <a:t>"A Formal Basis for the Heuristic Determination of Minimum Cost Paths,"</a:t>
            </a:r>
            <a:r>
              <a:rPr lang="en-IN" sz="1400" b="0" strike="noStrike" spc="-1" dirty="0">
                <a:solidFill>
                  <a:schemeClr val="dk1"/>
                </a:solidFill>
                <a:latin typeface="Times New Roman"/>
              </a:rPr>
              <a:t> IEEE Transactions on Systems Science and Cybernetics, Vol. 4, No. 2, pp. 100–107, 1968.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ounded Rectangle 20"/>
          <p:cNvSpPr/>
          <p:nvPr/>
        </p:nvSpPr>
        <p:spPr>
          <a:xfrm>
            <a:off x="15840" y="489240"/>
            <a:ext cx="3741120" cy="3417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GB" sz="1500" b="1" u="sng" strike="noStrike" spc="-1" dirty="0">
                <a:solidFill>
                  <a:srgbClr val="7030A0"/>
                </a:solidFill>
                <a:uFillTx/>
                <a:latin typeface="Times New Roman"/>
              </a:rPr>
              <a:t>What research establishes: Key findings from literature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Local A* Pathfinding: </a:t>
            </a:r>
            <a:r>
              <a:rPr lang="en-IN" sz="1280" dirty="0"/>
              <a:t>A*: </a:t>
            </a:r>
            <a:r>
              <a:rPr lang="en-IN" sz="1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grid-based path-planning algorithm suitable for local route calculation.</a:t>
            </a:r>
            <a:br>
              <a:rPr lang="en-IN" sz="1280" dirty="0"/>
            </a:b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Peer-to-Peer Communication Protocols: 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/>
              </a:rPr>
              <a:t>Established mechanism for direct inter-agent state and intent exchange without central brokers. </a:t>
            </a:r>
            <a:endParaRPr lang="en-US" sz="128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Lifelong MAPF Foundations: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/>
              </a:rPr>
              <a:t> Establishes theoretical multi-agent pathfinding and spatial access reservation in shared warehouse environments.</a:t>
            </a:r>
            <a:endParaRPr lang="en-US" sz="128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Standardized Fleet Interfaces (VDA 5050 / Open-RMF):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/>
              </a:rPr>
              <a:t> Demonstrates standardized data structures for mobile robot coordination and traffic management.</a:t>
            </a:r>
            <a:endParaRPr lang="en-US" sz="128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21"/>
          <p:cNvSpPr/>
          <p:nvPr/>
        </p:nvSpPr>
        <p:spPr>
          <a:xfrm>
            <a:off x="3997440" y="504720"/>
            <a:ext cx="4111802" cy="3417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IN" sz="1600" b="1" u="sng" strike="noStrike" spc="-1" dirty="0">
                <a:solidFill>
                  <a:srgbClr val="7030A0"/>
                </a:solidFill>
                <a:uFillTx/>
                <a:latin typeface="Times New Roman"/>
              </a:rPr>
              <a:t>What existing systems do: Evidence from current solution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Centralized Fleet Controllers: 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/>
              </a:rPr>
              <a:t>Provide global fleet tracking but create single points of failure and high network latency.</a:t>
            </a:r>
            <a:endParaRPr lang="en-US" sz="128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VDA 5050 Standard Interface: 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/>
              </a:rPr>
              <a:t>Standardizes central control-to-AGV communication, but does not offer direct robot-to-robot P2P negotiation. </a:t>
            </a:r>
            <a:endParaRPr lang="en-US" sz="128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28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Open-RMF Traffic Negotiation: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multi-robot traffic scheduling and negotiation; our prototype focuses on lightweight local decision-making.</a:t>
            </a:r>
            <a:br>
              <a:rPr lang="en-IN" sz="1280" dirty="0"/>
            </a:br>
            <a:r>
              <a:rPr lang="en-IN" sz="1280" b="1" strike="noStrike" spc="-1" dirty="0">
                <a:solidFill>
                  <a:schemeClr val="dk1"/>
                </a:solidFill>
                <a:latin typeface="Times New Roman"/>
              </a:rPr>
              <a:t>Fixed-Priority Decentralized P2P: </a:t>
            </a:r>
            <a:r>
              <a:rPr lang="en-IN" sz="128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local P2P with static rules (e.g., fixed Robot ID), </a:t>
            </a:r>
            <a:r>
              <a:rPr lang="en-IN" sz="1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priority rules can repeatedly </a:t>
            </a:r>
            <a:r>
              <a:rPr lang="en-IN" sz="12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</a:t>
            </a:r>
            <a:r>
              <a:rPr lang="en-IN" sz="1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same robot, increasing starvation risk</a:t>
            </a:r>
            <a:r>
              <a:rPr lang="en-IN" sz="1280" dirty="0"/>
              <a:t>.</a:t>
            </a:r>
            <a:endParaRPr lang="en-US" sz="128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2"/>
          <p:cNvSpPr/>
          <p:nvPr/>
        </p:nvSpPr>
        <p:spPr>
          <a:xfrm>
            <a:off x="8271933" y="496080"/>
            <a:ext cx="3871227" cy="3411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GB" sz="1500" b="1" u="sng" strike="noStrike" spc="-1" dirty="0">
                <a:solidFill>
                  <a:srgbClr val="7030A0"/>
                </a:solidFill>
                <a:uFillTx/>
                <a:latin typeface="Times New Roman"/>
              </a:rPr>
              <a:t>RESEARCH GAP : What is still missing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300" b="1" strike="noStrike" spc="-1" dirty="0">
                <a:solidFill>
                  <a:schemeClr val="dk1"/>
                </a:solidFill>
                <a:latin typeface="Times New Roman"/>
              </a:rPr>
              <a:t>Over-reliance on Central Control: </a:t>
            </a:r>
            <a:r>
              <a:rPr lang="en-IN" sz="1300" b="0" strike="noStrike" spc="-1" dirty="0">
                <a:solidFill>
                  <a:schemeClr val="dk1"/>
                </a:solidFill>
                <a:latin typeface="Times New Roman"/>
              </a:rPr>
              <a:t>Centralized architectures depend on network connectivity and fleet-control availability.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300" b="1" strike="noStrike" spc="-1" dirty="0">
                <a:solidFill>
                  <a:schemeClr val="dk1"/>
                </a:solidFill>
                <a:latin typeface="Times New Roman"/>
              </a:rPr>
              <a:t>Absence of Anti-Starvation Priority: </a:t>
            </a:r>
            <a:r>
              <a:rPr lang="en-IN" sz="1300" b="0" strike="noStrike" spc="-1" dirty="0">
                <a:solidFill>
                  <a:schemeClr val="dk1"/>
                </a:solidFill>
                <a:latin typeface="Times New Roman"/>
              </a:rPr>
              <a:t>Static scoring frameworks lack dynamic wait-time escalation, causing corridor deadlocks.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300" b="1" strike="noStrike" spc="-1" dirty="0">
                <a:solidFill>
                  <a:schemeClr val="dk1"/>
                </a:solidFill>
                <a:latin typeface="Times New Roman"/>
              </a:rPr>
              <a:t>Reactive vs. Pre-emptive Avoidance:</a:t>
            </a:r>
            <a:r>
              <a:rPr lang="en-IN" sz="1300" b="0" strike="noStrike" spc="-1" dirty="0">
                <a:solidFill>
                  <a:schemeClr val="dk1"/>
                </a:solidFill>
                <a:latin typeface="Times New Roman"/>
              </a:rPr>
              <a:t> Systems rely on reactive stop-and-wait sensors rather than pre-entry narrow-lane negotiation. 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3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Compute Burden: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MAPF approaches can introduce additional computational and coordination complexity; our prototype focuses on lightweight local planning.</a:t>
            </a:r>
            <a:endParaRPr lang="en-US" sz="13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title"/>
          </p:nvPr>
        </p:nvSpPr>
        <p:spPr>
          <a:xfrm>
            <a:off x="570960" y="-165960"/>
            <a:ext cx="10972440" cy="764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3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US" sz="33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Right Arrow 33"/>
          <p:cNvSpPr/>
          <p:nvPr/>
        </p:nvSpPr>
        <p:spPr>
          <a:xfrm>
            <a:off x="3649651" y="1973346"/>
            <a:ext cx="540000" cy="3592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8064A2">
                <a:lumMod val="40000"/>
                <a:lumOff val="60000"/>
              </a:srgbClr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3" name="Right Arrow 33">
            <a:extLst>
              <a:ext uri="{FF2B5EF4-FFF2-40B4-BE49-F238E27FC236}">
                <a16:creationId xmlns:a16="http://schemas.microsoft.com/office/drawing/2014/main" id="{2ED44A5F-D174-1061-8FB3-3D67942F2473}"/>
              </a:ext>
            </a:extLst>
          </p:cNvPr>
          <p:cNvSpPr/>
          <p:nvPr/>
        </p:nvSpPr>
        <p:spPr>
          <a:xfrm>
            <a:off x="7920588" y="2080986"/>
            <a:ext cx="540000" cy="3592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8064A2">
                <a:lumMod val="40000"/>
                <a:lumOff val="60000"/>
              </a:srgbClr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8038</TotalTime>
  <Words>1546</Words>
  <Application>Microsoft Office PowerPoint</Application>
  <PresentationFormat>Widescreen</PresentationFormat>
  <Paragraphs>169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Arial</vt:lpstr>
      <vt:lpstr>Calibri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SMART INDIA HACKATHON 2026</vt:lpstr>
      <vt:lpstr>PowerPoint Presentation</vt:lpstr>
      <vt:lpstr>TECHNICAL APPROACH</vt:lpstr>
      <vt:lpstr>FEASIBILITY AND VIABILITY</vt:lpstr>
      <vt:lpstr>PowerPoint Presentation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MADA VEERA KARTHIK</cp:lastModifiedBy>
  <cp:revision>172</cp:revision>
  <dcterms:created xsi:type="dcterms:W3CDTF">2013-12-12T18:46:50Z</dcterms:created>
  <dcterms:modified xsi:type="dcterms:W3CDTF">2026-09-30T05:53:24Z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